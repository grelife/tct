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64592" cy="5394960"/>
          </a:xfrm>
          <a:prstGeom prst="rect">
            <a:avLst/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822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14813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TPM 2.0 的可信度量、密封、远程证明与 PKCS#11 实现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96112" y="1828800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关键词：PCR 度量、数据密封、远程证明、PKCS#11、TPM 资源管理器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240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本次汇报会从系统目标出发，按脚本执行顺序讲清楚每个模块负责什么、为什么这么设计、代码里是如何落地的，最后再用真实实验结果证明系统确实工作。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95160" y="10515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9F4FB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4888" y="13624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7A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26880" y="10515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3E6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36608" y="13624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脚本职责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95160" y="22860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7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25968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理论与代码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26880" y="22860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36608" y="25968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实验效果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03720" y="3611880"/>
            <a:ext cx="46634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0024" y="3721608"/>
            <a:ext cx="4370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报告重点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95744" y="3931920"/>
            <a:ext cx="4251960" cy="10904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按脚本顺序讲清系统如何从环境搭建走到完整可信链路。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PCR、Policy、Quote 与 Token 这些理论名词落到具体代码和命令。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结合真实实验输出，说明可信状态与篡改状态的结果差异。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6144768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项目仓库：https://github.com/Grelife/TCT.git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109960" y="614476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8D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按照系统目标、脚本实现、理论落地、实验结果四条线展开。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234440"/>
            <a:ext cx="914400" cy="566928"/>
          </a:xfrm>
          <a:prstGeom prst="roundRect">
            <a:avLst>
              <a:gd name="adj" fmla="val 8065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39903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0" y="1207008"/>
            <a:ext cx="8458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3075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系统目标与实验拓扑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93392" y="1508760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为什么做这个系统、拓扑怎么搭起来。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0" y="143560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57A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212848"/>
            <a:ext cx="914400" cy="566928"/>
          </a:xfrm>
          <a:prstGeom prst="roundRect">
            <a:avLst>
              <a:gd name="adj" fmla="val 8065"/>
            </a:avLst>
          </a:prstGeom>
          <a:solidFill>
            <a:srgbClr val="2C5D8A"/>
          </a:solidFill>
          <a:ln w="12700">
            <a:solidFill>
              <a:srgbClr val="2C5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23774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828800" y="2185416"/>
            <a:ext cx="8458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93392" y="2286000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脚本顺序与职责划分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93392" y="2487168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 到 99 各脚本在总目标里负责哪一块。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241401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3191256"/>
            <a:ext cx="914400" cy="566928"/>
          </a:xfrm>
          <a:prstGeom prst="roundRect">
            <a:avLst>
              <a:gd name="adj" fmla="val 8065"/>
            </a:avLst>
          </a:prstGeom>
          <a:solidFill>
            <a:srgbClr val="D9892B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35584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828800" y="3163824"/>
            <a:ext cx="8458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3264408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理论与代码对应讲解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993392" y="3465576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PCR、Policy、Quote、PKCS#11 对应到具体代码。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0" y="339242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4169664"/>
            <a:ext cx="914400" cy="566928"/>
          </a:xfrm>
          <a:prstGeom prst="roundRect">
            <a:avLst>
              <a:gd name="adj" fmla="val 806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33425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828800" y="4142232"/>
            <a:ext cx="8458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3392" y="4242816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实验效果与现象解读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993392" y="4443984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展示真实输出，说明系统确实成功。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0" y="437083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5148072"/>
            <a:ext cx="914400" cy="566928"/>
          </a:xfrm>
          <a:prstGeom prst="roundRect">
            <a:avLst>
              <a:gd name="adj" fmla="val 806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531266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828800" y="5120640"/>
            <a:ext cx="8458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93392" y="5221224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安全分析、局限与总结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993392" y="5422392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说明收益、风险边界和可以继续改进的地方。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0" y="534924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561320" y="1225296"/>
            <a:ext cx="1005840" cy="4800600"/>
          </a:xfrm>
          <a:prstGeom prst="roundRect">
            <a:avLst>
              <a:gd name="adj" fmla="val 5455"/>
            </a:avLst>
          </a:prstGeom>
          <a:solidFill>
            <a:srgbClr val="E9F4F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07624" y="133502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698480" y="2148840"/>
            <a:ext cx="7315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先看目标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再看脚本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再看理论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最后看结果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系统目标与设计动机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先回答老师最关心的问题：这个系统究竟想解决什么。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234440"/>
            <a:ext cx="5486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1344168"/>
            <a:ext cx="5193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要解决的四类安全问题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645920"/>
            <a:ext cx="5074920" cy="17590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完整性问题：系统配置或启动链被篡改后，如何留下不可抵赖的状态痕迹？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机密性问题：敏感数据如何不仅“被加密”，而且“只在可信状态下可用”？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可验证性问题：远程管理员如何确认平台没有被静默替换或重放旧状态？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工程复用问题：怎样把 TPM 能力通过标准接口交给浏览器、OpenSSL、SSH 之类的现有软件？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教学问题：怎样把抽象的 TPM 原理拆成学生能一步一步跟着做、跟着看的脚本？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46520" y="1261872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E9F4FB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380744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92824" y="1609344"/>
            <a:ext cx="19476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 记录平台状态。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只要启动项或配置变化，PCR 就会变化。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42832" y="1261872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FF3E6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9136" y="1380744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89136" y="1609344"/>
            <a:ext cx="19476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密封对象绑定 PCR。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状态对了才能解封秘密。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3493008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EAF7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3611880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可信证明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92824" y="3840480"/>
            <a:ext cx="19476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AK 对 PCR 和 Nonce 签名。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验证方能确认状态真实且新鲜。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42832" y="3493008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9136" y="3611880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标准接口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89136" y="3840480"/>
            <a:ext cx="19476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PKCS#11 把 TPM 暴露成“虚拟智能卡”，降低集成门槛。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实验拓扑与整体架构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这一页把“谁和谁通信、为什么要这么连”讲清楚。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234440"/>
            <a:ext cx="548640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344168"/>
            <a:ext cx="5193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1-3：直连 swtpm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1664208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E9F4FB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178308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A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应用脚本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99232" y="1810512"/>
            <a:ext cx="2542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02/03/04/06 调用实验逻辑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2633472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EEF4FF"/>
          </a:solidFill>
          <a:ln w="12700">
            <a:solidFill>
              <a:srgbClr val="2C5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7523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tpm2-tools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99232" y="2779776"/>
            <a:ext cx="2542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pcrread / pcrextend / create / quote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0120" y="3602736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3F7FB"/>
          </a:solidFill>
          <a:ln w="12700">
            <a:solidFill>
              <a:srgbClr val="1228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72160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TCTI = swtpm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99232" y="3749040"/>
            <a:ext cx="2542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swtpm:host=localhost,port=2321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0120" y="4572000"/>
            <a:ext cx="4846320" cy="658368"/>
          </a:xfrm>
          <a:prstGeom prst="roundRect">
            <a:avLst>
              <a:gd name="adj" fmla="val 6944"/>
            </a:avLst>
          </a:prstGeom>
          <a:solidFill>
            <a:srgbClr val="FDF2E7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69087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swtpm 模拟器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99232" y="4718304"/>
            <a:ext cx="2542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软件模拟 TPM 2.0 芯片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2322576"/>
            <a:ext cx="0" cy="301752"/>
          </a:xfrm>
          <a:prstGeom prst="line">
            <a:avLst/>
          </a:prstGeom>
          <a:noFill/>
          <a:ln w="12700">
            <a:solidFill>
              <a:srgbClr val="5F738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83280" y="3291840"/>
            <a:ext cx="0" cy="301752"/>
          </a:xfrm>
          <a:prstGeom prst="line">
            <a:avLst/>
          </a:prstGeom>
          <a:noFill/>
          <a:ln w="12700">
            <a:solidFill>
              <a:srgbClr val="5F73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83280" y="4261104"/>
            <a:ext cx="0" cy="301752"/>
          </a:xfrm>
          <a:prstGeom prst="line">
            <a:avLst/>
          </a:prstGeom>
          <a:noFill/>
          <a:ln w="12700">
            <a:solidFill>
              <a:srgbClr val="5F738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55080" y="1234440"/>
            <a:ext cx="516636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1384" y="1344168"/>
            <a:ext cx="4873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4：通过 abrmd 访问 TPM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29400" y="1664208"/>
            <a:ext cx="4617720" cy="676656"/>
          </a:xfrm>
          <a:prstGeom prst="roundRect">
            <a:avLst>
              <a:gd name="adj" fmla="val 6757"/>
            </a:avLst>
          </a:prstGeom>
          <a:solidFill>
            <a:srgbClr val="EAF7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186537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05_pkcs11.sh -&gt; tpm2_ptool / pkcs11-tool / openssl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42832" y="2340864"/>
            <a:ext cx="0" cy="365760"/>
          </a:xfrm>
          <a:prstGeom prst="line">
            <a:avLst/>
          </a:prstGeom>
          <a:noFill/>
          <a:ln w="12700">
            <a:solidFill>
              <a:srgbClr val="5F738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022592" y="2743200"/>
            <a:ext cx="3858768" cy="749808"/>
          </a:xfrm>
          <a:prstGeom prst="roundRect">
            <a:avLst>
              <a:gd name="adj" fmla="val 6098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2907792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tpm2-abrmd 资源管理器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23760" y="3127248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TPM 当作“可换页的对象池”，解决多上下文并发访问问题。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42832" y="3502152"/>
            <a:ext cx="0" cy="384048"/>
          </a:xfrm>
          <a:prstGeom prst="line">
            <a:avLst/>
          </a:prstGeom>
          <a:noFill/>
          <a:ln w="12700">
            <a:solidFill>
              <a:srgbClr val="5F738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022592" y="3950208"/>
            <a:ext cx="3858768" cy="694944"/>
          </a:xfrm>
          <a:prstGeom prst="roundRect">
            <a:avLst>
              <a:gd name="adj" fmla="val 6579"/>
            </a:avLst>
          </a:prstGeom>
          <a:solidFill>
            <a:srgbClr val="EFF4FA"/>
          </a:solidFill>
          <a:ln w="12700">
            <a:solidFill>
              <a:srgbClr val="1228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4206240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TCTI = tabrmd:bus_type=session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942832" y="4645152"/>
            <a:ext cx="0" cy="402336"/>
          </a:xfrm>
          <a:prstGeom prst="line">
            <a:avLst/>
          </a:prstGeom>
          <a:noFill/>
          <a:ln w="12700">
            <a:solidFill>
              <a:srgbClr val="5F738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406640" y="5102352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FFF3E6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71232" y="534924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swtpm：TPM 2.0 模拟器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脚本全景：从 00 到 99 如何形成闭环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老师如果只看一页，这页应该能看懂整个项目的组织方式。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353312"/>
            <a:ext cx="10625328" cy="5184648"/>
          </a:xfrm>
          <a:prstGeom prst="roundRect">
            <a:avLst>
              <a:gd name="adj" fmla="val 529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353312"/>
            <a:ext cx="10625328" cy="5760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53619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79776" y="1536192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91456" y="1536192"/>
            <a:ext cx="6473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对总目标的贡献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70048" y="1353312"/>
            <a:ext cx="0" cy="5184648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1353312"/>
            <a:ext cx="0" cy="5184648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1929384"/>
            <a:ext cx="10625328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06654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22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00_env_setup.sh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2779776" y="207568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环境安装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809744" y="2029968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swtpm、tpm2-tools、abrmd、PKCS#11 依赖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749808" y="2505456"/>
            <a:ext cx="10625328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264261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22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01_start_tpm.sh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2779776" y="265176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启动平台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809744" y="2606040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启动模拟器、建立状态目录、验证 TCTI 和 PCR 可读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749808" y="3081528"/>
            <a:ext cx="10625328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2186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22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02_measurement.sh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2779776" y="3227832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完整性度量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809744" y="3182112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让文件状态进入 PCR，为后续 Seal 和 Attestation 打基础</a:t>
            </a:r>
            <a:endParaRPr lang="en-US" sz="1090" dirty="0"/>
          </a:p>
        </p:txBody>
      </p:sp>
      <p:sp>
        <p:nvSpPr>
          <p:cNvPr id="30" name="Shape 28"/>
          <p:cNvSpPr/>
          <p:nvPr/>
        </p:nvSpPr>
        <p:spPr>
          <a:xfrm>
            <a:off x="749808" y="3657600"/>
            <a:ext cx="10625328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379476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22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03_seal_unseal.sh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2779776" y="380390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状态绑定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809744" y="3758184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把秘密与 PCR 状态绑定，实现可信时解封、不可信时拒绝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749808" y="4233672"/>
            <a:ext cx="10625328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37083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22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04_attestation.sh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2779776" y="437997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远程证明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4809744" y="4334256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让验证方确认平台状态真实且 Nonce 匹配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749808" y="4809744"/>
            <a:ext cx="10625328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494690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22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05_pkcs11.sh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2779776" y="495604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标准接口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4809744" y="4910328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TPM 暴露成 PKCS#11 令牌，支持标准签名/验签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749808" y="5385816"/>
            <a:ext cx="10625328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552297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22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06_full_demo.sh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2779776" y="55321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系统串联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4809744" y="5486400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把单项能力组织成“安全文件保险箱”完整流程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749808" y="5961888"/>
            <a:ext cx="10625328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" y="609904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22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99_cleanup.sh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2779776" y="6108192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环境回收</a:t>
            </a:r>
            <a:endParaRPr lang="en-US" sz="1120" dirty="0"/>
          </a:p>
        </p:txBody>
      </p:sp>
      <p:sp>
        <p:nvSpPr>
          <p:cNvPr id="49" name="Text 47"/>
          <p:cNvSpPr/>
          <p:nvPr/>
        </p:nvSpPr>
        <p:spPr>
          <a:xfrm>
            <a:off x="4809744" y="6062472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 swtpm 并删除状态，保证实验可重复开始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相关工作一：00_env_setup.sh 做了什么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第一步不是安全算法，而是把实验平台搭对。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234440"/>
            <a:ext cx="4892040" cy="516636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1344168"/>
            <a:ext cx="4599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脚本职责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1691640"/>
            <a:ext cx="4434840" cy="14154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先检查是否为 root 权限，避免安装阶段因为权限不足而失败。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再识别系统版本，明确脚本面向 Ubuntu 22.04。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随后安装 TPM 模拟器、TPM 工具链、资源管理器、PKCS#11 工具和辅助命令。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最后逐个验证关键命令能否执行，并打印版本号作为实验环境证明。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779008" y="1261872"/>
            <a:ext cx="5669280" cy="2331720"/>
          </a:xfrm>
          <a:prstGeom prst="roundRect">
            <a:avLst>
              <a:gd name="adj" fmla="val 1961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7024" y="1335024"/>
            <a:ext cx="5413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关键代码：安装依赖包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07024" y="1517904"/>
            <a:ext cx="5413248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"swtpm"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"swtpm-tools"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"tpm2-tools"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"libtss2-dev"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"tpm2-abrmd"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"libtss2-tcti-tabrmd0"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"libtpm2-pkcs11-1"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"libtpm2-pkcs11-tools"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"openssl"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"opensc"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"dbus"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${PACKAGES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apt-get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-qq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$pkg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79008" y="3822192"/>
            <a:ext cx="5669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3931920"/>
            <a:ext cx="5376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实验记录中的关键返回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5312" y="4169664"/>
            <a:ext cx="537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swtpm: TPM emulator version 0.6.3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tpm2_pcrread: version=5.2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tpm2_createprimary: version=5.2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tpm2_quote: version=5.2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tpm2_ptool: 已安装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79008" y="5413248"/>
            <a:ext cx="5669280" cy="987552"/>
          </a:xfrm>
          <a:prstGeom prst="roundRect">
            <a:avLst>
              <a:gd name="adj" fmla="val 5556"/>
            </a:avLst>
          </a:prstGeom>
          <a:solidFill>
            <a:srgbClr val="E9F4F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5522976"/>
            <a:ext cx="5376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这一脚本对应总目标的哪一块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5687568"/>
            <a:ext cx="5321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它不直接做安全证明，但它把“实验能否跑起来”这个基础问题一次解决掉。没有 00 脚本，后面的 PCR、Quote、PKCS#11 都只会停留在概念层。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相关工作二：01_start_tpm.sh 启动了怎样的 TPM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第二步是把 TPM 模拟器真的跑起来，并验证它不是假启动。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280160"/>
            <a:ext cx="5623560" cy="2011680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1353312"/>
            <a:ext cx="5367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核心命令：启动 swtpm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1536192"/>
            <a:ext cx="536752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swtpm socket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--tpmstate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/tmp/tpm-vault-state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--tpm2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--ctrl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tcp,port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--server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tcp,port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--flags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not-need-init,startup-clear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525780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2321 是 TPM 命令通道，2322 是控制通道。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状态目录 `/tmp/tpm-vault-state` 会保存 TPM 持久状态。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脚本会先杀掉旧进程，避免上一次实验残留影响当前结果。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启动之后马上执行 `tpm2_startup -c` 和 `tpm2_pcrread sha256:0` 做连通性验证。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1280160"/>
            <a:ext cx="48920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9984" y="1389888"/>
            <a:ext cx="4599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实验输出：平台真的已经可用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9984" y="1627632"/>
            <a:ext cx="45994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swtpm 已启动 (PID: 24707)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服务端口: 2321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控制端口: 2322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TCTI: swtpm:host=localhost,port=2321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PCR 0 = 0x0000000000000000000000000000000000000000000000000000000000000000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3840480"/>
            <a:ext cx="4892040" cy="2057400"/>
          </a:xfrm>
          <a:prstGeom prst="roundRect">
            <a:avLst>
              <a:gd name="adj" fmla="val 2667"/>
            </a:avLst>
          </a:prstGeom>
          <a:solidFill>
            <a:srgbClr val="FFF3E6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3950208"/>
            <a:ext cx="4599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它在总目标中的位置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41605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脚本负责把“理论上的 TPM”变成“脚本能访问的 TPM”。它为后续所有实验提供同一个稳定的硬件抽象：端口、状态目录、TCTI 和连通性验证都在这里固定下来。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相关工作三：02_measurement.sh 如何完成 PCR 度量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这里开始进入 TPM 的第一个核心能力：完整性度量。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34440"/>
            <a:ext cx="4663440" cy="51663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344168"/>
            <a:ext cx="4370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1664208"/>
            <a:ext cx="914400" cy="493776"/>
          </a:xfrm>
          <a:prstGeom prst="chevron">
            <a:avLst/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81051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PCR10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56816" y="1664208"/>
            <a:ext cx="1024128" cy="493776"/>
          </a:xfrm>
          <a:prstGeom prst="chevron">
            <a:avLst/>
          </a:prstGeom>
          <a:solidFill>
            <a:srgbClr val="2C5D8A"/>
          </a:solidFill>
          <a:ln w="12700">
            <a:solidFill>
              <a:srgbClr val="2C5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18105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算文件哈希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1664208"/>
            <a:ext cx="1024128" cy="493776"/>
          </a:xfrm>
          <a:prstGeom prst="chevron">
            <a:avLst/>
          </a:prstGeom>
          <a:solidFill>
            <a:srgbClr val="D9892B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8105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 PCR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61104" y="1664208"/>
            <a:ext cx="914400" cy="493776"/>
          </a:xfrm>
          <a:prstGeom prst="chevron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181051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篡改文件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36592" y="2176272"/>
            <a:ext cx="0" cy="384048"/>
          </a:xfrm>
          <a:prstGeom prst="line">
            <a:avLst/>
          </a:prstGeom>
          <a:noFill/>
          <a:ln w="12700">
            <a:solidFill>
              <a:srgbClr val="5F73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61104" y="2633472"/>
            <a:ext cx="914400" cy="493776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77977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再次扩展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24612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目标不是“证明文件安全”，而是“证明平台状态能被 PCR 可靠记录”。脚本复制配置文件到工作目录，然后先读取 PCR 10，再计算哈希、扩展 PCR，最后模拟篡改并再次扩展，观察 PCR 值的链式变化。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5596128" y="1298448"/>
            <a:ext cx="58978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1408176"/>
            <a:ext cx="5605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实验输出：PCR 10 的变化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42432" y="1645920"/>
            <a:ext cx="5605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初始 PCR10: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10:0x0000000000000000000000000000000000000000000000000000000000000000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第一次扩展后: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10:0x85CCFB9AE4A72E3CB0A96067E37A262D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3DFACEA94F1595F18B46F06F1471E0A0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篡改后文件哈希: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9ed9ed5f34fbd3ad1410370f771b2602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7505dfcc098eb0ef00df4f9d5c97b9f1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第二次扩展后: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10:0x2CD101015684E104C032ED6FE458CA4A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6EA55686AF7CC0B7367A7D8C6D895E62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596128" y="4297680"/>
            <a:ext cx="5897880" cy="2057400"/>
          </a:xfrm>
          <a:prstGeom prst="roundRect">
            <a:avLst>
              <a:gd name="adj" fmla="val 2667"/>
            </a:avLst>
          </a:prstGeom>
          <a:solidFill>
            <a:srgbClr val="E9F4F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4407408"/>
            <a:ext cx="5605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它负责总目标中的哪一块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79008" y="4645152"/>
            <a:ext cx="5504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脚本负责建立“可信状态有痕迹”这件事。如果没有 Measurement，后面的 Seal 无法知道“当前状态和创建时是否一致”，Attestation 也没有可签名的状态摘要。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理论与代码对应一：为什么 PCR 扩展能代表完整性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这一页把数学公式、脚本代码和实验现象对应起来。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34440"/>
            <a:ext cx="4663440" cy="51206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344168"/>
            <a:ext cx="4370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核心理论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664208"/>
            <a:ext cx="4251960" cy="4754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14400" y="2331720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E9F4FB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45059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累积性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0704" y="2679192"/>
            <a:ext cx="941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新值依赖旧值，因此保留历史。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331720" y="2331720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FFF3E6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78024" y="245059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不可回退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478024" y="2679192"/>
            <a:ext cx="941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不能把 PCR 直接设回原来的值。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749040" y="2331720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EAF7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95344" y="245059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895344" y="2679192"/>
            <a:ext cx="941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同一输入序列总能得到同一结果。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32688" y="39776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所以，PCR 不是“存文件内容”，而是“存平台状态的摘要链”。只要输入顺序、输入内容有任何改变，PCR 最终值都会跟着改变。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5577840" y="1298448"/>
            <a:ext cx="5870448" cy="2240280"/>
          </a:xfrm>
          <a:prstGeom prst="roundRect">
            <a:avLst>
              <a:gd name="adj" fmla="val 2041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05856" y="1371600"/>
            <a:ext cx="5614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代码映射：02_measurement.sh 的关键部分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705856" y="1554480"/>
            <a:ext cx="561441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FILE_HASH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compute_sha256 config.txt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tpm2_pcrextend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"10:sha256=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${FILE_HASH}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PCR_VALUE_FIRST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read_pcr_value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's/ssh_port=22/ssh_port=2222/'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config.txt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TAMPERED_HASH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compute_sha256 config.txt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tpm2_pcrextend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"10:sha256=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${TAMPERED_HASH}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742432" y="3840480"/>
            <a:ext cx="5486400" cy="10287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`compute_sha256` 负责把文件状态变成固定长度摘要。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`tpm2_pcrextend` 不覆盖原值，而是把摘要扩展进 PCR 10。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两次读取结果不同，正好印证了“篡改 -&gt; 哈希变 -&gt; PCR 变”的链式反应。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相关工作四：03_seal_unseal.sh 如何把秘密绑定到平台状态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有了度量之后，才能继续做“只有平台可信时才释放数据”。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34440"/>
            <a:ext cx="562356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344168"/>
            <a:ext cx="5330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实验主线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664208"/>
            <a:ext cx="5166360" cy="19545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先把配置文件哈希扩展到 PCR16，建立可信基线。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创建 Owner 层级 Primary Key，作为密封对象父对象。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创建基于 PCR16 当前值的 policy。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用 `tpm2_create` 把 secret.txt 密封成 TPM 对象。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正常状态下执行 `tpm2_unseal`，能得到原始秘密。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篡改 PCR16 后再次解封，TPM 会拒绝释放秘密。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92240" y="1298448"/>
            <a:ext cx="49834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1408176"/>
            <a:ext cx="4690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正常状态下的关键现象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38544" y="1645920"/>
            <a:ext cx="4690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tpm2_unseal -c seal.ctx -p session:session.ctx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MySecretKey-123456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数据完整性验证通过：解封内容与原始内容完全一致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3429000"/>
            <a:ext cx="49834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3538728"/>
            <a:ext cx="4690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篡改后的关键现象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38544" y="3776472"/>
            <a:ext cx="4690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tpm2_pcrextend 16:sha256=5db9512f...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PCR 16 已被篡改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Unable to run tpm2_unseal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解封失败！TPM 拒绝释放数据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5449824"/>
            <a:ext cx="4983480" cy="877824"/>
          </a:xfrm>
          <a:prstGeom prst="roundRect">
            <a:avLst>
              <a:gd name="adj" fmla="val 6250"/>
            </a:avLst>
          </a:prstGeom>
          <a:solidFill>
            <a:srgbClr val="FFF3E6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5559552"/>
            <a:ext cx="4690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它对总目标的贡献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56832" y="585216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脚本把 TPM 从“记录状态”升级成“基于状态做访问控制”。这正是保险箱场景的核心：不是谁拿到文件就能看，而是谁处于正确平台状态谁才能解封。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理论与代码对应二：Policy、Primary 与 Unseal 到底对应什么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这一页要把大家最容易混淆的几个 TPM 对象讲清楚。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98448"/>
            <a:ext cx="5532120" cy="214884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71600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代码片段：创建主密钥与策略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554480"/>
            <a:ext cx="527608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tpm2_createprimary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sha256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rsa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primary.ctx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tpm2_pcrread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pcr_current.bin sha256:16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tpm2_startauthsession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session.ctx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tpm2_policypcr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sha256:16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pcr_current.bin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pcr.policy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3703320"/>
            <a:ext cx="5532120" cy="2304288"/>
          </a:xfrm>
          <a:prstGeom prst="roundRect">
            <a:avLst>
              <a:gd name="adj" fmla="val 1984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776472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代码片段：密封、加载与解封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959352"/>
            <a:ext cx="527608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tpm2_create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primary.ctx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pcr.policy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secret.txt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seal.pub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seal.priv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tpm2_load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primary.ctx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seal.pub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seal.priv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seal.ctx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tpm2_startauthsession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session.ctx --policy-session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tpm2_policypcr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sha256:16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tpm2_unseal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seal.ctx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session:session.ctx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1280160"/>
            <a:ext cx="5047488" cy="47365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1389888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返回参数要怎么看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56832" y="1682496"/>
            <a:ext cx="4572000" cy="1831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`name-alg`：对象名称使用的摘要算法，本实验统一是 SHA-256。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`attributes`：对象能力描述。Primary Key 会看到 `restricted|decrypt`，说明它主要承担父对象和解密保护角色。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`type`：对象类型。密封对象不是 RSA，而是 `keyedhash` 类型。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`authorization policy`：密封对象真正绑定的不是“某段文本”，而是 policy digest。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`name`：对象名称。加载到 TPM 后，后续命令通过上下文文件或名称来引用它。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脚本里的 `flush_all_contexts()` 很关键，因为 TPM 瞬态对象槽位很少，旧上下文不清掉，后续 `load` 容易失败。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相关工作五：04_attestation.sh 如何完成远程证明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到这一步，系统不只是“自保”，还可以向远程方证明自己当前可信。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34440"/>
            <a:ext cx="548640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344168"/>
            <a:ext cx="5193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 / Attester 时序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1737360"/>
            <a:ext cx="1645920" cy="54864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 w="12700">
            <a:solidFill>
              <a:srgbClr val="2C5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202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 Verifier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94760" y="1737360"/>
            <a:ext cx="1645920" cy="54864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19202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平台方 Attester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606040" y="2011680"/>
            <a:ext cx="1051560" cy="0"/>
          </a:xfrm>
          <a:prstGeom prst="line">
            <a:avLst/>
          </a:prstGeom>
          <a:noFill/>
          <a:ln w="12700">
            <a:solidFill>
              <a:srgbClr val="12284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907792" y="18288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2798064"/>
            <a:ext cx="-1051560" cy="0"/>
          </a:xfrm>
          <a:prstGeom prst="line">
            <a:avLst/>
          </a:prstGeom>
          <a:noFill/>
          <a:ln w="12700">
            <a:solidFill>
              <a:srgbClr val="12284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43200" y="257860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Quote + Signature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337560"/>
            <a:ext cx="4526280" cy="15841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 PCR0/1/2 写入 Bootloader、Kernel 和配置摘要。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EK，再基于 EK 创建 AK。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验证方发送随机 Nonce。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平台方用 AK 生成 Quote，并把 PCR、Nonce 和签名一起返回。</a:t>
            </a:r>
            <a:endParaRPr lang="en-US" sz="1380" dirty="0"/>
          </a:p>
          <a:p>
            <a:pPr marL="203200" indent="-203200">
              <a:buSzPct val="100000"/>
              <a:buChar char="•"/>
            </a:pPr>
            <a:r>
              <a:rPr lang="en-US" sz="138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验证方用 AK 公钥验证签名，同时检查 Nonce 是否匹配。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6419088" y="1298448"/>
            <a:ext cx="507492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1408176"/>
            <a:ext cx="4782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实验输出：Quote 与验证结果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65392" y="1645920"/>
            <a:ext cx="47823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Nonce: 0x4a71979d3988cba9dcfd9dc55c5253f6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quote.msg: 129 字节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quote.sig: 262 字节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quote_pcr.bin: 668 字节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 验证成功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错误 Nonce 验证失败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19088" y="3977640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4087368"/>
            <a:ext cx="4782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AK 公钥导出后，验证方看到什么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65392" y="4325112"/>
            <a:ext cx="47823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attributes: ...|restricted|sign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scheme: rsassa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scheme-halg: sha256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-----BEGIN PUBLIC KEY-----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MIIBIjANBgkq...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-----END PUBLIC KEY-----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理论与代码对应三：EK、AK、Nonce、Quote 各自负责什么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远程证明最容易混的是四个名词，这一页逐个拆开。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80160"/>
            <a:ext cx="5532120" cy="2423160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53312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代码片段：创建 AK 与生成 Quote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536192"/>
            <a:ext cx="527608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tpm2_createek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ek.ctx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rsa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ek.pub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tpm2_createak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ek.ctx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ak.ctx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rsa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sha256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rsassa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ak.pub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ak.name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rand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-hex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tpm2_quote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ak.ctx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sha256:0,1,2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-q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${NONCE}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quote.msg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quote.sig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quote_pcr.bin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sha256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3977640"/>
            <a:ext cx="5532120" cy="192024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050792"/>
            <a:ext cx="5276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代码片段：验证 Quote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4233672"/>
            <a:ext cx="52760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tpm2_checkquote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ak.pub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quote.msg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quote.sig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quote_pcr.bin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-q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${NONCE}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WRONG_NONCE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rand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-hex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tpm2_checkquote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ak.pub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quote.msg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quote.sig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quote_pcr.bin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-q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${WRONG_NONCE}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73952" y="1280160"/>
            <a:ext cx="5010912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1389888"/>
            <a:ext cx="4718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字段含义和安全意义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691640"/>
            <a:ext cx="4572000" cy="17940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EK：背书密钥，是 TPM 身份根，更多承担“身份证”角色。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AK：证明密钥，真正负责对 Quote 签名，避免直接暴露 EK。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Nonce：一次性随机挑战，解决“旧证明被重放”的问题。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quoted：被签名的原始证明体，里面携带了 PCR 摘要和 Nonce。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sig：AK 对 quoted 的签名结果，验证方检查的就是它。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calcDigest：由被引用的 PCR 集合计算出来的摘要，用来证明状态确实被纳入签名。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473952" y="5449824"/>
            <a:ext cx="5010912" cy="822960"/>
          </a:xfrm>
          <a:prstGeom prst="roundRect">
            <a:avLst>
              <a:gd name="adj" fmla="val 6667"/>
            </a:avLst>
          </a:prstGeom>
          <a:solidFill>
            <a:srgbClr val="FDEDEC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5559552"/>
            <a:ext cx="4718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实验现象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38544" y="58155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 Quote 在正确 Nonce 下验证通过，在错误 Nonce 下验证失败，说明“真实性”和“新鲜性”这两个目标都被满足了。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相关工作六：05_pkcs11.sh 如何把 TPM 变成标准密码令牌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这一页解释为什么这个项目不止是 TPM 命令演示，还能接入现有应用生态。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34440"/>
            <a:ext cx="4846320" cy="512064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344168"/>
            <a:ext cx="455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脚本完成的六件事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1664208"/>
            <a:ext cx="4434840" cy="19421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44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自动进入私有 D-Bus 会话，确保 abrmd 和当前脚本在同一条 bus 上。</a:t>
            </a:r>
            <a:endParaRPr lang="en-US" sz="1440" dirty="0"/>
          </a:p>
          <a:p>
            <a:pPr marL="203200" indent="-203200">
              <a:buSzPct val="100000"/>
              <a:buChar char="•"/>
            </a:pPr>
            <a:r>
              <a:rPr lang="en-US" sz="144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`tpm2-abrmd`，并切换 `TPM2TOOLS_TCTI` 与 `TPM2_PKCS11_TCTI`。</a:t>
            </a:r>
            <a:endParaRPr lang="en-US" sz="1440" dirty="0"/>
          </a:p>
          <a:p>
            <a:pPr marL="203200" indent="-203200">
              <a:buSzPct val="100000"/>
              <a:buChar char="•"/>
            </a:pPr>
            <a:r>
              <a:rPr lang="en-US" sz="144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`tpm2_ptool init` 初始化 PKCS#11 store。</a:t>
            </a:r>
            <a:endParaRPr lang="en-US" sz="1440" dirty="0"/>
          </a:p>
          <a:p>
            <a:pPr marL="203200" indent="-203200">
              <a:buSzPct val="100000"/>
              <a:buChar char="•"/>
            </a:pPr>
            <a:r>
              <a:rPr lang="en-US" sz="144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`addtoken` 创建 token，配置 SO PIN 与 User PIN。</a:t>
            </a:r>
            <a:endParaRPr lang="en-US" sz="1440" dirty="0"/>
          </a:p>
          <a:p>
            <a:pPr marL="203200" indent="-203200">
              <a:buSzPct val="100000"/>
              <a:buChar char="•"/>
            </a:pPr>
            <a:r>
              <a:rPr lang="en-US" sz="144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`addkey` 在 TPM 中生成 RSA-2048 密钥对。</a:t>
            </a:r>
            <a:endParaRPr lang="en-US" sz="1440" dirty="0"/>
          </a:p>
          <a:p>
            <a:pPr marL="203200" indent="-203200">
              <a:buSzPct val="100000"/>
              <a:buChar char="•"/>
            </a:pPr>
            <a:r>
              <a:rPr lang="en-US" sz="144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`pkcs11-tool` 列对象、做签名，再导出公钥用 `openssl` 验证。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5760720" y="1298448"/>
            <a:ext cx="571500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7024" y="1408176"/>
            <a:ext cx="5422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实验输出：slots 与对象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07024" y="1645920"/>
            <a:ext cx="54223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0 (0x1): tpm-vault-token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flags: login required, token initialized, PIN initialized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Key Object; RSA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Usage: decrypt, sign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Access: sensitive, never extractable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Key Object; RSA 2048 bits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Usage: encrypt, verify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4133088"/>
            <a:ext cx="57150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4242816"/>
            <a:ext cx="5422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实验输出：签名与验签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07024" y="4480560"/>
            <a:ext cx="5422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pkcs11-tool --sign ... -o signature.bin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签名成功！(256 字节)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pkcs11-tool --read-object --type pubkey --id &lt;CKA_ID&gt;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dgst -sha256 -verify pubkey.pem -signature signature.bin data_to_sign.txt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OK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理论与代码对应四：PKCS#11 的难点不在签名，而在资源管理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这一页重点讲本项目里最有工程含量的一段修复。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298448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417320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1645920"/>
            <a:ext cx="1947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tpm2_ptool 单命令内部会占用多个 TPM 瞬态对象，直连 swtpm 时容易触发 0x902。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FFF3E6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417320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46704" y="1645920"/>
            <a:ext cx="1947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abrmd 必须和脚本在同一条 D-Bus session 上，否则 tabrmd 虽然“看起来配置了”，其实连不上。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50992" y="1298448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E9F4FB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1417320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97296" y="1645920"/>
            <a:ext cx="1947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公钥导出如果不按 `CKA_ID` 精确匹配，容易出现“签名成功但公钥没导对”的情况。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" y="3063240"/>
            <a:ext cx="6537960" cy="3154680"/>
          </a:xfrm>
          <a:prstGeom prst="roundRect">
            <a:avLst>
              <a:gd name="adj" fmla="val 1449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136392"/>
            <a:ext cx="6281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关键修复代码：D-Bus 自举 + abrmd + CKA_ID 精确导出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3319272"/>
            <a:ext cx="6281928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-z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${TPM_PKCS11_DBUS_BOOTSTRAPPED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TPM_PKCS11_DBUS_BOOTSTRAPPED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dbus-run-session --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$@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tpm2-abrmd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--tcti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"swtpm:host=localhost,port=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${TPM_SERVER_PORT}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--session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TPM2TOOLS_TCTI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"tabrmd:bus_type=session"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ADDKEY_OUTPUT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tpm2_ptool addkey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${ADDKEY_OUTPUT}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"'"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'/CKA_ID:/ {print $2; exit}'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READ_PUB_CMD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${KEY_ID}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3063240"/>
            <a:ext cx="397764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4384" y="3172968"/>
            <a:ext cx="3685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为什么这段代码重要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3493008"/>
            <a:ext cx="3566160" cy="9669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它让脚本不再依赖“用户先手工进 dbus-run-session”，而是自带正确执行环境。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它把“有 abrmd 进程”升级成“abrmd 真能被当前脚本访问”。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它保证签名与导出的公钥来自同一对象，最终得到 `Verified OK` 的稳定结果。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相关工作七：06_full_demo 与 99_cleanup 如何形成业务闭环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前面是单项实验，这里开始把它们串成完整故事。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34440"/>
            <a:ext cx="10972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344168"/>
            <a:ext cx="10680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完整演示脚本做了什么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1828800"/>
            <a:ext cx="1691640" cy="530352"/>
          </a:xfrm>
          <a:prstGeom prst="chevron">
            <a:avLst/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975104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度量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35808" y="1828800"/>
            <a:ext cx="1691640" cy="530352"/>
          </a:xfrm>
          <a:prstGeom prst="chevron">
            <a:avLst/>
          </a:prstGeom>
          <a:solidFill>
            <a:srgbClr val="D9892B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975104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75504" y="1828800"/>
            <a:ext cx="1691640" cy="530352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975104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证明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828800"/>
            <a:ext cx="1691640" cy="530352"/>
          </a:xfrm>
          <a:prstGeom prst="chevron">
            <a:avLst/>
          </a:prstGeom>
          <a:solidFill>
            <a:srgbClr val="2C5D8A"/>
          </a:solidFill>
          <a:ln w="12700">
            <a:solidFill>
              <a:srgbClr val="2C5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1975104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解封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54896" y="1828800"/>
            <a:ext cx="1691640" cy="530352"/>
          </a:xfrm>
          <a:prstGeom prst="chevron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4624" y="1975104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攻击失败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2468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脚本负责把前面分散的 TPM 能力拼成一个有业务语义的系统：平台先建立可信基线，再密封秘密，远程管理员验证平台可信，随后才允许解封；一旦平台被篡改，解封立即失败。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3232" y="3429000"/>
            <a:ext cx="5303520" cy="2651760"/>
          </a:xfrm>
          <a:prstGeom prst="roundRect">
            <a:avLst>
              <a:gd name="adj" fmla="val 2069"/>
            </a:avLst>
          </a:prstGeom>
          <a:solidFill>
            <a:srgbClr val="E9F4FB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538728"/>
            <a:ext cx="5010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06_full_demo 的价值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22192"/>
            <a:ext cx="4892040" cy="100401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把“脚本功能”升级成“系统流程”，更适合完整展示。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证明四项能力不是孤立存在，而是能组合成一条可信链。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输出中既有正常解封，也有攻击失败，实验对比非常清楚。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6236208" y="3429000"/>
            <a:ext cx="5449824" cy="2651760"/>
          </a:xfrm>
          <a:prstGeom prst="roundRect">
            <a:avLst>
              <a:gd name="adj" fmla="val 2069"/>
            </a:avLst>
          </a:prstGeom>
          <a:solidFill>
            <a:srgbClr val="FFF3E6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538728"/>
            <a:ext cx="5157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99_cleanup 的价值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822192"/>
            <a:ext cx="4983480" cy="100401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 `swtpm`，删除状态目录和工作目录，让实验回到干净初态。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避免上一次实验残留对象影响本次结果，提高可重复性。</a:t>
            </a:r>
            <a:endParaRPr lang="en-US" sz="1360" dirty="0"/>
          </a:p>
          <a:p>
            <a:pPr marL="203200" indent="-203200">
              <a:buSzPct val="100000"/>
              <a:buChar char="•"/>
            </a:pPr>
            <a:r>
              <a:rPr lang="en-US" sz="136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实验记录里也验证了：清理后如果直接运行 06，会提示 TPM 未运行，说明环境检查逻辑有效。</a:t>
            </a:r>
            <a:endParaRPr lang="en-US" sz="13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公共关键代码：统一配置、环境检查与上下文清理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除了业务脚本，还要讲这些让系统稳定运行的基础层。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80160"/>
            <a:ext cx="5486400" cy="2331720"/>
          </a:xfrm>
          <a:prstGeom prst="roundRect">
            <a:avLst>
              <a:gd name="adj" fmla="val 1961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53312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config/tpm_env.conf：统一配置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536192"/>
            <a:ext cx="5230368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TPM_SERVER_PORT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TPM_CTRL_PORT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2322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TPM_STATE_DIR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"/tmp/tpm-vault-state"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TPM2TOOLS_TCTI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"swtpm:host=localhost,port=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${TPM_SERVER_PORT}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TPM2_PKCS11_TCTI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"tabrmd:bus_type=session"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TPM2_PKCS11_STORE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${TPM_WORK_DIR}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/pkcs11-store"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3675888"/>
            <a:ext cx="5486400" cy="251460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12700">
            <a:solidFill>
              <a:srgbClr val="2D3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749040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tpm_helpers.sh：公共能力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931920"/>
            <a:ext cx="523036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check_environment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check_tpm2_tools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check_tpm_running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tpm2_pcrread sha256:0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flush_all_contexts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tpm2_flushcontext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/dev/null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tpm2_flushcontext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/dev/null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tpm2_flushcontext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/dev/null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19088" y="1280160"/>
            <a:ext cx="507492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389888"/>
            <a:ext cx="4782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为什么这部分非常关键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1755648"/>
            <a:ext cx="4617720" cy="12755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统一配置让所有脚本共享同一端口、同一状态目录、同一 TCTI，避免“每个脚本写一套”的维护问题。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环境检查让失败尽量发生在实验一开始，而不是做到一半才发现 TPM 根本没连上。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上下文清理解决的是 TPM 资源非常少这个现实限制，尤其对 `create / load / quote / pkcs11` 这样的命令非常重要。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从工程角度看，这一层就是项目稳定性的保障层。它不炫技，但最能决定实验能否复现。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实验效果演示一：单项实验的关键结果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这一页不再讲原理，只看最后跑出来了什么。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2801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E9F4FB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399032"/>
            <a:ext cx="4965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A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Measurement：PCR 10 成功反映篡改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1627632"/>
            <a:ext cx="49651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初始值为全零；第一次扩展后变为 0x85CC...；文件被改动后再次扩展，变为 0x2CD1...。这说明 PCR 记录的是“摘要链”，不是简单覆盖值。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FF3E6"/>
          </a:solidFill>
          <a:ln w="12700">
            <a:solidFill>
              <a:srgbClr val="D98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399032"/>
            <a:ext cx="4965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Seal / Unseal：正常解封、篡改拒绝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18504" y="1627632"/>
            <a:ext cx="49651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正常状态下返回 MySecretKey-123456；篡改 PCR 16 后，`tpm2_unseal` 直接失败。说明 TPM 成功把秘密和平台状态绑定起来。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370332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EAF7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22192"/>
            <a:ext cx="4965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Attestation：正确 Nonce 通过，错误 Nonce 失败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4050792"/>
            <a:ext cx="49651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Quote 生成后，正确 Nonce 验证成功；把 Nonce 换成另一个随机值后验证失败。这证明远程证明具备防重放能力。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3822192"/>
            <a:ext cx="4965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PKCS#11：标准工具链签名与验签成功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18504" y="4050792"/>
            <a:ext cx="49651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与对象可见，私钥不可导出，签名结果为 256 字节，最终 `Verified OK`。说明 TPM 已能被标准密码学工具直接使用。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实验效果演示二：完整业务流程与攻击阻止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这页展示最终系统级效果：可信时能开箱，不可信时打不开。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298448"/>
            <a:ext cx="5394960" cy="4846320"/>
          </a:xfrm>
          <a:prstGeom prst="roundRect">
            <a:avLst>
              <a:gd name="adj" fmla="val 1132"/>
            </a:avLst>
          </a:prstGeom>
          <a:solidFill>
            <a:srgbClr val="EAF7E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408176"/>
            <a:ext cx="5102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可信状态：系统允许解封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关键输出摘录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2029968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 0/16 已建立可信基线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远程证明验证通过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解封结果：MyVaultSecret-1234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这说明系统在“可信平台 + 证明通过”的前提下，能够顺利释放业务秘密。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298448"/>
            <a:ext cx="5074920" cy="4846320"/>
          </a:xfrm>
          <a:prstGeom prst="roundRect">
            <a:avLst>
              <a:gd name="adj" fmla="val 1132"/>
            </a:avLst>
          </a:prstGeom>
          <a:solidFill>
            <a:srgbClr val="FDEDEC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408176"/>
            <a:ext cx="4782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篡改状态：系统拒绝解封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1755648"/>
            <a:ext cx="4663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关键输出摘录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029968"/>
            <a:ext cx="4526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攻击者向 PCR 16 扩展 MALWARE_INJECTED 摘要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重新创建主密钥并尝试解封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返回：解封被拒绝，攻击被阻止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这说明攻击者即使获得系统访问权，也无法在错误平台状态下取出秘密。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44768" y="1481328"/>
            <a:ext cx="0" cy="448056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30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安全分析、局限与总结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877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最后收束成一句话：这个系统为什么成立，又有哪些边界。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521208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57A9C"/>
          </a:solidFill>
          <a:ln w="12700">
            <a:solidFill>
              <a:srgbClr val="15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566928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5669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3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638544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安全文件保险箱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298448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408176"/>
            <a:ext cx="5102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安全收益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755648"/>
            <a:ext cx="4892040" cy="157391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完整性：PCR 能把关键组件状态浓缩成可验证摘要。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机密性：密封对象绑定 PCR，秘密不是“拿到文件就能看”。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真实性：Quote 由 AK 私钥签名，验证方能确认状态来自 TPM。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抗重放：Nonce 让旧的证明结果无法直接重复使用。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可复用性：PKCS#11 让 TPM 进入标准应用生态，而不是停留在命令行实验。</a:t>
            </a:r>
            <a:endParaRPr lang="en-US" sz="1370" dirty="0"/>
          </a:p>
        </p:txBody>
      </p:sp>
      <p:sp>
        <p:nvSpPr>
          <p:cNvPr id="14" name="Shape 12"/>
          <p:cNvSpPr/>
          <p:nvPr/>
        </p:nvSpPr>
        <p:spPr>
          <a:xfrm>
            <a:off x="6355080" y="1298448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1408176"/>
            <a:ext cx="4782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局限与改进方向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1755648"/>
            <a:ext cx="4617720" cy="12920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本项目使用的是 `swtpm` 软件模拟器，不等于真实硬件 TPM 的物理安全级别。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 证书链在实验中被简化；真实部署应补全厂商证书验证链。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演示用 PIN 为固定值，只适合教学，生产环境要使用强口令和更完善的密钥生命周期管理。</a:t>
            </a:r>
            <a:endParaRPr lang="en-US" sz="1370" dirty="0"/>
          </a:p>
          <a:p>
            <a:pPr marL="203200" indent="-203200">
              <a:buSzPct val="100000"/>
              <a:buChar char="•"/>
            </a:pPr>
            <a:r>
              <a:rPr lang="en-US" sz="1370" dirty="0">
                <a:solidFill>
                  <a:srgbClr val="243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后续可继续扩展：接入真实 TPM、加入 FAPI、与 LUKS 或浏览器证书场景联动。</a:t>
            </a:r>
            <a:endParaRPr lang="en-US" sz="1370" dirty="0"/>
          </a:p>
        </p:txBody>
      </p:sp>
      <p:sp>
        <p:nvSpPr>
          <p:cNvPr id="17" name="Shape 15"/>
          <p:cNvSpPr/>
          <p:nvPr/>
        </p:nvSpPr>
        <p:spPr>
          <a:xfrm>
            <a:off x="749808" y="6053328"/>
            <a:ext cx="10680192" cy="384048"/>
          </a:xfrm>
          <a:prstGeom prst="roundRect">
            <a:avLst>
              <a:gd name="adj" fmla="val 9524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6181344"/>
            <a:ext cx="10012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总结：本项目把 TPM 的四项核心能力从“概念”变成了“可复现、可讲解、可演示”的完整系统流程。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TPM 安全文件保险箱</dc:title>
  <dc:subject>TPM 安全文件保险箱</dc:subject>
  <dc:creator>OpenAI Codex</dc:creator>
  <cp:lastModifiedBy>OpenAI Codex</cp:lastModifiedBy>
  <cp:revision>1</cp:revision>
  <dcterms:created xsi:type="dcterms:W3CDTF">2026-04-20T00:26:11Z</dcterms:created>
  <dcterms:modified xsi:type="dcterms:W3CDTF">2026-04-20T00:26:11Z</dcterms:modified>
</cp:coreProperties>
</file>